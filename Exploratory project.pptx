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sldIdLst>
    <p:sldId id="256" r:id="rId2"/>
    <p:sldId id="258" r:id="rId3"/>
    <p:sldId id="257" r:id="rId4"/>
    <p:sldId id="259" r:id="rId5"/>
    <p:sldId id="260" r:id="rId6"/>
    <p:sldId id="261" r:id="rId7"/>
    <p:sldId id="262" r:id="rId8"/>
    <p:sldId id="263" r:id="rId9"/>
    <p:sldId id="264" r:id="rId10"/>
    <p:sldId id="265" r:id="rId11"/>
    <p:sldId id="269" r:id="rId12"/>
    <p:sldId id="267" r:id="rId13"/>
    <p:sldId id="270" r:id="rId14"/>
    <p:sldId id="271" r:id="rId15"/>
    <p:sldId id="266"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83" autoAdjust="0"/>
    <p:restoredTop sz="94660"/>
  </p:normalViewPr>
  <p:slideViewPr>
    <p:cSldViewPr snapToGrid="0">
      <p:cViewPr>
        <p:scale>
          <a:sx n="66" d="100"/>
          <a:sy n="66" d="100"/>
        </p:scale>
        <p:origin x="58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a:xfrm>
            <a:off x="5332412" y="5883275"/>
            <a:ext cx="4324044" cy="365125"/>
          </a:xfrm>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562852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10951856" y="5867131"/>
            <a:ext cx="551167" cy="365125"/>
          </a:xfrm>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348577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74257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5E724E-FEF6-49B4-8336-2A51FA081C35}" type="datetimeFigureOut">
              <a:rPr lang="en-AU" smtClean="0"/>
              <a:t>5/05/2025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615074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5E724E-FEF6-49B4-8336-2A51FA081C35}" type="datetimeFigureOut">
              <a:rPr lang="en-AU" smtClean="0"/>
              <a:t>5/05/2025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424125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5E724E-FEF6-49B4-8336-2A51FA081C35}" type="datetimeFigureOut">
              <a:rPr lang="en-AU" smtClean="0"/>
              <a:t>5/05/2025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245171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5E724E-FEF6-49B4-8336-2A51FA081C35}" type="datetimeFigureOut">
              <a:rPr lang="en-AU" smtClean="0"/>
              <a:t>5/05/2025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829155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5E724E-FEF6-49B4-8336-2A51FA081C35}" type="datetimeFigureOut">
              <a:rPr lang="en-AU" smtClean="0"/>
              <a:t>5/05/2025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2865813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5E724E-FEF6-49B4-8336-2A51FA081C35}" type="datetimeFigureOut">
              <a:rPr lang="en-AU" smtClean="0"/>
              <a:t>5/05/2025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2024110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5E724E-FEF6-49B4-8336-2A51FA081C35}" type="datetimeFigureOut">
              <a:rPr lang="en-AU" smtClean="0"/>
              <a:t>5/05/2025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67885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3291844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3183563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594634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590900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3661309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862095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5E724E-FEF6-49B4-8336-2A51FA081C35}" type="datetimeFigureOut">
              <a:rPr lang="en-AU" smtClean="0"/>
              <a:t>5/05/2025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BBF26D3-1E26-4592-94C9-C9546E9D2191}" type="slidenum">
              <a:rPr lang="en-AU" smtClean="0"/>
              <a:t>‹#›</a:t>
            </a:fld>
            <a:endParaRPr lang="en-AU"/>
          </a:p>
        </p:txBody>
      </p:sp>
    </p:spTree>
    <p:extLst>
      <p:ext uri="{BB962C8B-B14F-4D97-AF65-F5344CB8AC3E}">
        <p14:creationId xmlns:p14="http://schemas.microsoft.com/office/powerpoint/2010/main" val="181104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5E724E-FEF6-49B4-8336-2A51FA081C35}" type="datetimeFigureOut">
              <a:rPr lang="en-AU" smtClean="0"/>
              <a:t>5/05/2025</a:t>
            </a:fld>
            <a:endParaRPr lang="en-AU"/>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BBF26D3-1E26-4592-94C9-C9546E9D2191}" type="slidenum">
              <a:rPr lang="en-AU" smtClean="0"/>
              <a:t>‹#›</a:t>
            </a:fld>
            <a:endParaRPr lang="en-AU"/>
          </a:p>
        </p:txBody>
      </p:sp>
    </p:spTree>
    <p:extLst>
      <p:ext uri="{BB962C8B-B14F-4D97-AF65-F5344CB8AC3E}">
        <p14:creationId xmlns:p14="http://schemas.microsoft.com/office/powerpoint/2010/main" val="2809910960"/>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3DCF9-0BF9-DF06-0918-93AEB4A35A59}"/>
              </a:ext>
            </a:extLst>
          </p:cNvPr>
          <p:cNvSpPr>
            <a:spLocks noGrp="1"/>
          </p:cNvSpPr>
          <p:nvPr>
            <p:ph type="ctrTitle"/>
          </p:nvPr>
        </p:nvSpPr>
        <p:spPr>
          <a:xfrm>
            <a:off x="2928401" y="1380068"/>
            <a:ext cx="8024521" cy="1949541"/>
          </a:xfrm>
        </p:spPr>
        <p:txBody>
          <a:bodyPr/>
          <a:lstStyle/>
          <a:p>
            <a:r>
              <a:rPr lang="en-AU" dirty="0"/>
              <a:t>Exploratory project</a:t>
            </a:r>
          </a:p>
        </p:txBody>
      </p:sp>
      <p:sp>
        <p:nvSpPr>
          <p:cNvPr id="3" name="Subtitle 2">
            <a:extLst>
              <a:ext uri="{FF2B5EF4-FFF2-40B4-BE49-F238E27FC236}">
                <a16:creationId xmlns:a16="http://schemas.microsoft.com/office/drawing/2014/main" id="{FE3583EB-141E-F34E-BAFD-DE92FF99BCC3}"/>
              </a:ext>
            </a:extLst>
          </p:cNvPr>
          <p:cNvSpPr>
            <a:spLocks noGrp="1"/>
          </p:cNvSpPr>
          <p:nvPr>
            <p:ph type="subTitle" idx="1"/>
          </p:nvPr>
        </p:nvSpPr>
        <p:spPr>
          <a:xfrm>
            <a:off x="2692398" y="3657597"/>
            <a:ext cx="6968437" cy="1515532"/>
          </a:xfrm>
        </p:spPr>
        <p:txBody>
          <a:bodyPr>
            <a:normAutofit fontScale="92500" lnSpcReduction="20000"/>
          </a:bodyPr>
          <a:lstStyle/>
          <a:p>
            <a:r>
              <a:rPr lang="en-AU" dirty="0"/>
              <a:t>Presented by : </a:t>
            </a:r>
            <a:r>
              <a:rPr lang="en-AU" dirty="0" err="1"/>
              <a:t>Nooka</a:t>
            </a:r>
            <a:r>
              <a:rPr lang="en-AU" dirty="0"/>
              <a:t> Jathin Swaroop</a:t>
            </a:r>
          </a:p>
          <a:p>
            <a:r>
              <a:rPr lang="en-AU" dirty="0"/>
              <a:t>Roll no:23065072</a:t>
            </a:r>
          </a:p>
          <a:p>
            <a:r>
              <a:rPr lang="en-AU" dirty="0"/>
              <a:t>Department: Civil engineering</a:t>
            </a:r>
          </a:p>
          <a:p>
            <a:r>
              <a:rPr lang="en-AU" dirty="0"/>
              <a:t>Date:06-05-2025</a:t>
            </a:r>
          </a:p>
          <a:p>
            <a:endParaRPr lang="en-AU" dirty="0"/>
          </a:p>
        </p:txBody>
      </p:sp>
    </p:spTree>
    <p:extLst>
      <p:ext uri="{BB962C8B-B14F-4D97-AF65-F5344CB8AC3E}">
        <p14:creationId xmlns:p14="http://schemas.microsoft.com/office/powerpoint/2010/main" val="68795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115FE-5562-5E5F-220B-03B17F1D6E83}"/>
              </a:ext>
            </a:extLst>
          </p:cNvPr>
          <p:cNvSpPr>
            <a:spLocks noGrp="1"/>
          </p:cNvSpPr>
          <p:nvPr>
            <p:ph type="title"/>
          </p:nvPr>
        </p:nvSpPr>
        <p:spPr>
          <a:xfrm>
            <a:off x="1295401" y="982132"/>
            <a:ext cx="9935815" cy="1343625"/>
          </a:xfrm>
        </p:spPr>
        <p:txBody>
          <a:bodyPr>
            <a:normAutofit/>
          </a:bodyPr>
          <a:lstStyle/>
          <a:p>
            <a:r>
              <a:rPr lang="en-US" dirty="0"/>
              <a:t>“GNSS Applications in Earthquake Monitoring”</a:t>
            </a:r>
            <a:endParaRPr lang="en-AU" dirty="0"/>
          </a:p>
        </p:txBody>
      </p:sp>
      <p:sp>
        <p:nvSpPr>
          <p:cNvPr id="3" name="Content Placeholder 2">
            <a:extLst>
              <a:ext uri="{FF2B5EF4-FFF2-40B4-BE49-F238E27FC236}">
                <a16:creationId xmlns:a16="http://schemas.microsoft.com/office/drawing/2014/main" id="{BB85D506-A2DF-BDAE-A6EB-5D829B842E51}"/>
              </a:ext>
            </a:extLst>
          </p:cNvPr>
          <p:cNvSpPr>
            <a:spLocks noGrp="1"/>
          </p:cNvSpPr>
          <p:nvPr>
            <p:ph idx="1"/>
          </p:nvPr>
        </p:nvSpPr>
        <p:spPr>
          <a:xfrm>
            <a:off x="1374914" y="2584173"/>
            <a:ext cx="9601196" cy="3020761"/>
          </a:xfrm>
        </p:spPr>
        <p:txBody>
          <a:bodyPr/>
          <a:lstStyle/>
          <a:p>
            <a:r>
              <a:rPr lang="en-AU" dirty="0">
                <a:ln w="0"/>
                <a:solidFill>
                  <a:schemeClr val="tx1"/>
                </a:solidFill>
                <a:effectLst>
                  <a:outerShdw blurRad="38100" dist="19050" dir="2700000" algn="tl" rotWithShape="0">
                    <a:schemeClr val="dk1">
                      <a:alpha val="40000"/>
                    </a:schemeClr>
                  </a:outerShdw>
                </a:effectLst>
              </a:rPr>
              <a:t>Introduction</a:t>
            </a:r>
            <a:r>
              <a:rPr lang="en-AU" dirty="0"/>
              <a:t>: </a:t>
            </a:r>
            <a:r>
              <a:rPr lang="en-US" b="1" i="0" dirty="0">
                <a:solidFill>
                  <a:srgbClr val="000000"/>
                </a:solidFill>
                <a:effectLst/>
              </a:rPr>
              <a:t>GNSS (Global Navigation Satellite System)</a:t>
            </a:r>
            <a:r>
              <a:rPr lang="en-US" b="0" i="0" dirty="0">
                <a:solidFill>
                  <a:srgbClr val="000000"/>
                </a:solidFill>
                <a:effectLst/>
              </a:rPr>
              <a:t> helps in monitoring and detecting early signs of earthquakes rather than directly predicting them. Scientists use GNSS data to track ground deformations that may indicate stress buildup in the Earth's crust. Here’s how GNSS contributes to pre-earthquake detection:</a:t>
            </a:r>
            <a:endParaRPr lang="en-AU" dirty="0"/>
          </a:p>
        </p:txBody>
      </p:sp>
    </p:spTree>
    <p:extLst>
      <p:ext uri="{BB962C8B-B14F-4D97-AF65-F5344CB8AC3E}">
        <p14:creationId xmlns:p14="http://schemas.microsoft.com/office/powerpoint/2010/main" val="2748394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CFE95-201D-B599-B8B6-F428150F045A}"/>
              </a:ext>
            </a:extLst>
          </p:cNvPr>
          <p:cNvSpPr>
            <a:spLocks noGrp="1"/>
          </p:cNvSpPr>
          <p:nvPr>
            <p:ph type="title"/>
          </p:nvPr>
        </p:nvSpPr>
        <p:spPr>
          <a:xfrm>
            <a:off x="1295402" y="982132"/>
            <a:ext cx="9081050" cy="419285"/>
          </a:xfrm>
        </p:spPr>
        <p:txBody>
          <a:bodyPr>
            <a:noAutofit/>
          </a:bodyPr>
          <a:lstStyle/>
          <a:p>
            <a:br>
              <a:rPr lang="en-US" sz="3200" dirty="0"/>
            </a:br>
            <a:br>
              <a:rPr lang="en-US" sz="3200" dirty="0"/>
            </a:br>
            <a:r>
              <a:rPr lang="en-US" sz="3200" dirty="0"/>
              <a:t>1)Importance of GNSS in geophysical Studies</a:t>
            </a:r>
            <a:br>
              <a:rPr lang="en-US" sz="3200" dirty="0"/>
            </a:br>
            <a:endParaRPr lang="en-AU" sz="3200" dirty="0"/>
          </a:p>
        </p:txBody>
      </p:sp>
      <p:sp>
        <p:nvSpPr>
          <p:cNvPr id="3" name="Content Placeholder 2">
            <a:extLst>
              <a:ext uri="{FF2B5EF4-FFF2-40B4-BE49-F238E27FC236}">
                <a16:creationId xmlns:a16="http://schemas.microsoft.com/office/drawing/2014/main" id="{EF6DC033-8B91-4ADF-1C11-5916CDF9ED2C}"/>
              </a:ext>
            </a:extLst>
          </p:cNvPr>
          <p:cNvSpPr>
            <a:spLocks noGrp="1"/>
          </p:cNvSpPr>
          <p:nvPr>
            <p:ph idx="1"/>
          </p:nvPr>
        </p:nvSpPr>
        <p:spPr>
          <a:xfrm>
            <a:off x="1035628" y="1987826"/>
            <a:ext cx="9201675" cy="4026285"/>
          </a:xfrm>
        </p:spPr>
        <p:txBody>
          <a:bodyPr>
            <a:normAutofit fontScale="92500" lnSpcReduction="10000"/>
          </a:bodyPr>
          <a:lstStyle/>
          <a:p>
            <a:pPr>
              <a:buNone/>
            </a:pPr>
            <a:r>
              <a:rPr lang="en-AU" b="1" dirty="0"/>
              <a:t>Importance of GNSS in Geophysical Studies</a:t>
            </a:r>
          </a:p>
          <a:p>
            <a:pPr>
              <a:buFont typeface="+mj-lt"/>
              <a:buAutoNum type="arabicPeriod"/>
            </a:pPr>
            <a:r>
              <a:rPr lang="en-AU" b="1" dirty="0"/>
              <a:t>Precise Positioning</a:t>
            </a:r>
            <a:r>
              <a:rPr lang="en-AU" dirty="0"/>
              <a:t>: GNSS (Global Navigation Satellite Systems) provides </a:t>
            </a:r>
            <a:r>
              <a:rPr lang="en-AU" dirty="0" err="1"/>
              <a:t>centimeter</a:t>
            </a:r>
            <a:r>
              <a:rPr lang="en-AU" dirty="0"/>
              <a:t>-level accuracy in positioning, essential for monitoring Earth's surface movements.</a:t>
            </a:r>
          </a:p>
          <a:p>
            <a:pPr>
              <a:buFont typeface="+mj-lt"/>
              <a:buAutoNum type="arabicPeriod"/>
            </a:pPr>
            <a:r>
              <a:rPr lang="en-AU" b="1" dirty="0"/>
              <a:t>Crustal Deformation Monitoring</a:t>
            </a:r>
            <a:r>
              <a:rPr lang="en-AU" dirty="0"/>
              <a:t>: It helps detect slow and subtle shifts in the Earth's crust, useful in tectonic and volcanic studies.</a:t>
            </a:r>
          </a:p>
          <a:p>
            <a:pPr>
              <a:buFont typeface="+mj-lt"/>
              <a:buAutoNum type="arabicPeriod"/>
            </a:pPr>
            <a:r>
              <a:rPr lang="en-AU" b="1" dirty="0"/>
              <a:t>Real-Time Observations</a:t>
            </a:r>
            <a:r>
              <a:rPr lang="en-AU" dirty="0"/>
              <a:t>: Enables continuous monitoring of geological processes over time.</a:t>
            </a:r>
          </a:p>
          <a:p>
            <a:pPr>
              <a:buFont typeface="+mj-lt"/>
              <a:buAutoNum type="arabicPeriod"/>
            </a:pPr>
            <a:r>
              <a:rPr lang="en-AU" b="1" dirty="0"/>
              <a:t>Wide Area Coverage</a:t>
            </a:r>
            <a:r>
              <a:rPr lang="en-AU" dirty="0"/>
              <a:t>: GNSS networks cover large geographic areas, offering consistent data across regions.</a:t>
            </a:r>
          </a:p>
          <a:p>
            <a:pPr>
              <a:buFont typeface="+mj-lt"/>
              <a:buAutoNum type="arabicPeriod"/>
            </a:pPr>
            <a:endParaRPr lang="en-AU" dirty="0"/>
          </a:p>
          <a:p>
            <a:endParaRPr lang="en-AU" dirty="0"/>
          </a:p>
        </p:txBody>
      </p:sp>
    </p:spTree>
    <p:extLst>
      <p:ext uri="{BB962C8B-B14F-4D97-AF65-F5344CB8AC3E}">
        <p14:creationId xmlns:p14="http://schemas.microsoft.com/office/powerpoint/2010/main" val="404315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08559-C573-4A2A-A4BC-AA0491A2D183}"/>
              </a:ext>
            </a:extLst>
          </p:cNvPr>
          <p:cNvSpPr>
            <a:spLocks noGrp="1"/>
          </p:cNvSpPr>
          <p:nvPr>
            <p:ph type="title"/>
          </p:nvPr>
        </p:nvSpPr>
        <p:spPr/>
        <p:txBody>
          <a:bodyPr>
            <a:normAutofit/>
          </a:bodyPr>
          <a:lstStyle/>
          <a:p>
            <a:r>
              <a:rPr lang="en-US" dirty="0"/>
              <a:t>How GNSS Helps in Earthquake Detection?</a:t>
            </a:r>
            <a:endParaRPr lang="en-AU" dirty="0"/>
          </a:p>
        </p:txBody>
      </p:sp>
      <p:sp>
        <p:nvSpPr>
          <p:cNvPr id="3" name="Content Placeholder 2">
            <a:extLst>
              <a:ext uri="{FF2B5EF4-FFF2-40B4-BE49-F238E27FC236}">
                <a16:creationId xmlns:a16="http://schemas.microsoft.com/office/drawing/2014/main" id="{AC28A13F-3641-5D66-5ECD-34B958916178}"/>
              </a:ext>
            </a:extLst>
          </p:cNvPr>
          <p:cNvSpPr>
            <a:spLocks noGrp="1"/>
          </p:cNvSpPr>
          <p:nvPr>
            <p:ph idx="1"/>
          </p:nvPr>
        </p:nvSpPr>
        <p:spPr>
          <a:xfrm>
            <a:off x="1007166" y="2556932"/>
            <a:ext cx="9601196" cy="3318936"/>
          </a:xfrm>
        </p:spPr>
        <p:txBody>
          <a:bodyPr>
            <a:normAutofit fontScale="85000" lnSpcReduction="20000"/>
          </a:bodyPr>
          <a:lstStyle/>
          <a:p>
            <a:r>
              <a:rPr lang="en-US" b="1" dirty="0"/>
              <a:t>Detects Ground Displacement</a:t>
            </a:r>
            <a:r>
              <a:rPr lang="en-US" dirty="0"/>
              <a:t>: GNSS stations capture pre-, co-, and post-seismic shifts in position due to tectonic stress and fault ruptures.</a:t>
            </a:r>
          </a:p>
          <a:p>
            <a:r>
              <a:rPr lang="en-US" b="1" dirty="0"/>
              <a:t>Early Warning Systems</a:t>
            </a:r>
            <a:r>
              <a:rPr lang="en-US" dirty="0"/>
              <a:t>: Real-time GNSS data can feed into early warning systems, improving disaster preparedness</a:t>
            </a:r>
            <a:r>
              <a:rPr lang="en-AU" dirty="0"/>
              <a:t>.</a:t>
            </a:r>
          </a:p>
          <a:p>
            <a:pPr marL="0" indent="0">
              <a:buNone/>
            </a:pPr>
            <a:r>
              <a:rPr lang="en-US" b="1" dirty="0"/>
              <a:t> Monitoring Tectonic Plate Movements</a:t>
            </a:r>
          </a:p>
          <a:p>
            <a:r>
              <a:rPr lang="en-US" dirty="0"/>
              <a:t>GNSS stations track crustal deformations by measuring changes in coordinates over time.</a:t>
            </a:r>
          </a:p>
          <a:p>
            <a:r>
              <a:rPr lang="en-US" dirty="0"/>
              <a:t>If two tectonic plates are locked, stress builds up, which can lead to an earthquake.</a:t>
            </a:r>
          </a:p>
          <a:p>
            <a:r>
              <a:rPr lang="en-US" dirty="0"/>
              <a:t>Scientists analyze GNSS data to study how stress accumulates and to assess earthquake risks.</a:t>
            </a:r>
            <a:endParaRPr lang="en-AU" dirty="0"/>
          </a:p>
        </p:txBody>
      </p:sp>
    </p:spTree>
    <p:extLst>
      <p:ext uri="{BB962C8B-B14F-4D97-AF65-F5344CB8AC3E}">
        <p14:creationId xmlns:p14="http://schemas.microsoft.com/office/powerpoint/2010/main" val="97804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8A34-502A-10AC-9EED-FE4F6E7EFA2F}"/>
              </a:ext>
            </a:extLst>
          </p:cNvPr>
          <p:cNvSpPr>
            <a:spLocks noGrp="1"/>
          </p:cNvSpPr>
          <p:nvPr>
            <p:ph type="title"/>
          </p:nvPr>
        </p:nvSpPr>
        <p:spPr/>
        <p:txBody>
          <a:bodyPr>
            <a:normAutofit/>
          </a:bodyPr>
          <a:lstStyle/>
          <a:p>
            <a:r>
              <a:rPr lang="en-US" dirty="0"/>
              <a:t>How GNSS Helps in Earthquake Detection?</a:t>
            </a:r>
            <a:endParaRPr lang="en-AU" dirty="0"/>
          </a:p>
        </p:txBody>
      </p:sp>
      <p:sp>
        <p:nvSpPr>
          <p:cNvPr id="3" name="Content Placeholder 2">
            <a:extLst>
              <a:ext uri="{FF2B5EF4-FFF2-40B4-BE49-F238E27FC236}">
                <a16:creationId xmlns:a16="http://schemas.microsoft.com/office/drawing/2014/main" id="{F8EAD725-6F06-3125-C30F-DD68128A09F0}"/>
              </a:ext>
            </a:extLst>
          </p:cNvPr>
          <p:cNvSpPr>
            <a:spLocks noGrp="1"/>
          </p:cNvSpPr>
          <p:nvPr>
            <p:ph idx="1"/>
          </p:nvPr>
        </p:nvSpPr>
        <p:spPr/>
        <p:txBody>
          <a:bodyPr/>
          <a:lstStyle/>
          <a:p>
            <a:r>
              <a:rPr lang="en-US" dirty="0"/>
              <a:t>To explore the application of GNSS technology in earthquake monitoring. The project aims to demonstrate how GNSS systems can detect crustal displacement caused by seismic activity.</a:t>
            </a:r>
            <a:endParaRPr lang="en-AU" dirty="0"/>
          </a:p>
        </p:txBody>
      </p:sp>
    </p:spTree>
    <p:extLst>
      <p:ext uri="{BB962C8B-B14F-4D97-AF65-F5344CB8AC3E}">
        <p14:creationId xmlns:p14="http://schemas.microsoft.com/office/powerpoint/2010/main" val="39803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C380F-1503-E09D-327D-816D67CF22F4}"/>
              </a:ext>
            </a:extLst>
          </p:cNvPr>
          <p:cNvSpPr>
            <a:spLocks noGrp="1"/>
          </p:cNvSpPr>
          <p:nvPr>
            <p:ph type="title"/>
          </p:nvPr>
        </p:nvSpPr>
        <p:spPr/>
        <p:txBody>
          <a:bodyPr/>
          <a:lstStyle/>
          <a:p>
            <a:pPr algn="just"/>
            <a:r>
              <a:rPr lang="en-AU" dirty="0"/>
              <a:t>Case study: Turkey Earthquake 2023           </a:t>
            </a:r>
          </a:p>
        </p:txBody>
      </p:sp>
      <p:sp>
        <p:nvSpPr>
          <p:cNvPr id="3" name="Content Placeholder 2">
            <a:extLst>
              <a:ext uri="{FF2B5EF4-FFF2-40B4-BE49-F238E27FC236}">
                <a16:creationId xmlns:a16="http://schemas.microsoft.com/office/drawing/2014/main" id="{0EF01F42-B181-9F69-02D3-9A489F14AB27}"/>
              </a:ext>
            </a:extLst>
          </p:cNvPr>
          <p:cNvSpPr>
            <a:spLocks noGrp="1"/>
          </p:cNvSpPr>
          <p:nvPr>
            <p:ph idx="1"/>
          </p:nvPr>
        </p:nvSpPr>
        <p:spPr/>
        <p:txBody>
          <a:bodyPr/>
          <a:lstStyle/>
          <a:p>
            <a:r>
              <a:rPr lang="en-US" dirty="0"/>
              <a:t>The </a:t>
            </a:r>
            <a:r>
              <a:rPr lang="en-US" b="1" dirty="0"/>
              <a:t>February 6, 2023, Turkey earthquake</a:t>
            </a:r>
            <a:r>
              <a:rPr lang="en-US" dirty="0"/>
              <a:t> was a </a:t>
            </a:r>
            <a:r>
              <a:rPr lang="en-US" b="1" dirty="0"/>
              <a:t>high-magnitude (Mw 7.8)</a:t>
            </a:r>
            <a:r>
              <a:rPr lang="en-US" dirty="0"/>
              <a:t> event with severe structural and geological impact, providing a valuable case for GNSS analysis.</a:t>
            </a:r>
          </a:p>
          <a:p>
            <a:r>
              <a:rPr lang="en-US" b="1" dirty="0"/>
              <a:t>GNSS stations like MERS</a:t>
            </a:r>
            <a:r>
              <a:rPr lang="en-US" dirty="0"/>
              <a:t> in the region provided available RINEX data, which made scientific analysis feasible and accurate.</a:t>
            </a:r>
          </a:p>
          <a:p>
            <a:r>
              <a:rPr lang="en-US" dirty="0"/>
              <a:t>The event gained international research interest, allowing the project to be compared with global findings and validated through multiple data sources.</a:t>
            </a:r>
          </a:p>
          <a:p>
            <a:endParaRPr lang="en-AU" dirty="0"/>
          </a:p>
        </p:txBody>
      </p:sp>
    </p:spTree>
    <p:extLst>
      <p:ext uri="{BB962C8B-B14F-4D97-AF65-F5344CB8AC3E}">
        <p14:creationId xmlns:p14="http://schemas.microsoft.com/office/powerpoint/2010/main" val="4203615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8137-642A-32A4-4AC5-407B0F775BA7}"/>
              </a:ext>
            </a:extLst>
          </p:cNvPr>
          <p:cNvSpPr>
            <a:spLocks noGrp="1"/>
          </p:cNvSpPr>
          <p:nvPr>
            <p:ph type="title"/>
          </p:nvPr>
        </p:nvSpPr>
        <p:spPr/>
        <p:txBody>
          <a:bodyPr/>
          <a:lstStyle/>
          <a:p>
            <a:r>
              <a:rPr lang="en-AU" dirty="0"/>
              <a:t>GNSS and Earthquake Monitoring</a:t>
            </a:r>
          </a:p>
        </p:txBody>
      </p:sp>
      <p:sp>
        <p:nvSpPr>
          <p:cNvPr id="3" name="Content Placeholder 2">
            <a:extLst>
              <a:ext uri="{FF2B5EF4-FFF2-40B4-BE49-F238E27FC236}">
                <a16:creationId xmlns:a16="http://schemas.microsoft.com/office/drawing/2014/main" id="{CF8FC13A-5E9B-89B9-E60E-C79CA512F6A6}"/>
              </a:ext>
            </a:extLst>
          </p:cNvPr>
          <p:cNvSpPr>
            <a:spLocks noGrp="1"/>
          </p:cNvSpPr>
          <p:nvPr>
            <p:ph idx="1"/>
          </p:nvPr>
        </p:nvSpPr>
        <p:spPr/>
        <p:txBody>
          <a:bodyPr/>
          <a:lstStyle/>
          <a:p>
            <a:pPr>
              <a:buNone/>
            </a:pPr>
            <a:r>
              <a:rPr lang="en-US" b="1" dirty="0"/>
              <a:t>GNSS applications in seismic deformation:</a:t>
            </a:r>
            <a:endParaRPr lang="en-US" dirty="0"/>
          </a:p>
          <a:p>
            <a:pPr>
              <a:buFont typeface="Arial" panose="020B0604020202020204" pitchFamily="34" charset="0"/>
              <a:buChar char="•"/>
            </a:pPr>
            <a:r>
              <a:rPr lang="en-US" dirty="0"/>
              <a:t>Tracks tectonic plate movement in real-time</a:t>
            </a:r>
          </a:p>
          <a:p>
            <a:pPr>
              <a:buFont typeface="Arial" panose="020B0604020202020204" pitchFamily="34" charset="0"/>
              <a:buChar char="•"/>
            </a:pPr>
            <a:r>
              <a:rPr lang="en-US" dirty="0"/>
              <a:t>Monitors stress accumulation and release along fault lines</a:t>
            </a:r>
          </a:p>
          <a:p>
            <a:pPr>
              <a:buFont typeface="Arial" panose="020B0604020202020204" pitchFamily="34" charset="0"/>
              <a:buChar char="•"/>
            </a:pPr>
            <a:r>
              <a:rPr lang="en-US" dirty="0"/>
              <a:t>Helps assess permanent crustal deformation</a:t>
            </a:r>
          </a:p>
          <a:p>
            <a:endParaRPr lang="en-AU" dirty="0"/>
          </a:p>
        </p:txBody>
      </p:sp>
      <p:sp>
        <p:nvSpPr>
          <p:cNvPr id="4" name="Rectangle 1">
            <a:extLst>
              <a:ext uri="{FF2B5EF4-FFF2-40B4-BE49-F238E27FC236}">
                <a16:creationId xmlns:a16="http://schemas.microsoft.com/office/drawing/2014/main" id="{4E5B4DE8-A53E-9824-F1F5-3D200EA9811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5" name="Rectangle 2">
            <a:extLst>
              <a:ext uri="{FF2B5EF4-FFF2-40B4-BE49-F238E27FC236}">
                <a16:creationId xmlns:a16="http://schemas.microsoft.com/office/drawing/2014/main" id="{48993BBB-04FB-CAA7-4651-C46B58D3D518}"/>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6" name="Rectangle 3">
            <a:extLst>
              <a:ext uri="{FF2B5EF4-FFF2-40B4-BE49-F238E27FC236}">
                <a16:creationId xmlns:a16="http://schemas.microsoft.com/office/drawing/2014/main" id="{55E618E0-0F53-4133-696F-F9602646B632}"/>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1529901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D4C65-C41D-9448-DC79-287D0282880C}"/>
              </a:ext>
            </a:extLst>
          </p:cNvPr>
          <p:cNvSpPr>
            <a:spLocks noGrp="1"/>
          </p:cNvSpPr>
          <p:nvPr>
            <p:ph type="title"/>
          </p:nvPr>
        </p:nvSpPr>
        <p:spPr/>
        <p:txBody>
          <a:bodyPr>
            <a:normAutofit/>
          </a:bodyPr>
          <a:lstStyle/>
          <a:p>
            <a:r>
              <a:rPr lang="en-US" b="1" dirty="0"/>
              <a:t>How GNSS tracks crustal movement:</a:t>
            </a:r>
            <a:br>
              <a:rPr lang="en-US" dirty="0"/>
            </a:br>
            <a:endParaRPr lang="en-AU" dirty="0"/>
          </a:p>
        </p:txBody>
      </p:sp>
      <p:sp>
        <p:nvSpPr>
          <p:cNvPr id="3" name="Content Placeholder 2">
            <a:extLst>
              <a:ext uri="{FF2B5EF4-FFF2-40B4-BE49-F238E27FC236}">
                <a16:creationId xmlns:a16="http://schemas.microsoft.com/office/drawing/2014/main" id="{709F9C4B-83A3-D52B-B3BA-E4E0380777D4}"/>
              </a:ext>
            </a:extLst>
          </p:cNvPr>
          <p:cNvSpPr>
            <a:spLocks noGrp="1"/>
          </p:cNvSpPr>
          <p:nvPr>
            <p:ph idx="1"/>
          </p:nvPr>
        </p:nvSpPr>
        <p:spPr>
          <a:xfrm>
            <a:off x="1288778" y="2556932"/>
            <a:ext cx="9601196" cy="3318936"/>
          </a:xfrm>
        </p:spPr>
        <p:txBody>
          <a:bodyPr/>
          <a:lstStyle/>
          <a:p>
            <a:pPr>
              <a:buFont typeface="Arial" panose="020B0604020202020204" pitchFamily="34" charset="0"/>
              <a:buChar char="•"/>
            </a:pPr>
            <a:r>
              <a:rPr lang="en-US" dirty="0"/>
              <a:t>Compares precise GNSS coordinates over time</a:t>
            </a:r>
          </a:p>
          <a:p>
            <a:pPr>
              <a:buFont typeface="Arial" panose="020B0604020202020204" pitchFamily="34" charset="0"/>
              <a:buChar char="•"/>
            </a:pPr>
            <a:r>
              <a:rPr lang="en-US" dirty="0"/>
              <a:t>Detects millimeter-level shifts using high-accuracy post-processing</a:t>
            </a:r>
          </a:p>
          <a:p>
            <a:pPr>
              <a:buFont typeface="Arial" panose="020B0604020202020204" pitchFamily="34" charset="0"/>
              <a:buChar char="•"/>
            </a:pPr>
            <a:r>
              <a:rPr lang="en-US" dirty="0"/>
              <a:t>Useful for detecting both pre- and post-earthquake displacement</a:t>
            </a:r>
          </a:p>
          <a:p>
            <a:endParaRPr lang="en-AU" dirty="0"/>
          </a:p>
        </p:txBody>
      </p:sp>
    </p:spTree>
    <p:extLst>
      <p:ext uri="{BB962C8B-B14F-4D97-AF65-F5344CB8AC3E}">
        <p14:creationId xmlns:p14="http://schemas.microsoft.com/office/powerpoint/2010/main" val="1291433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C8CF-787A-ED0B-5AC8-DDE11EC88D91}"/>
              </a:ext>
            </a:extLst>
          </p:cNvPr>
          <p:cNvSpPr>
            <a:spLocks noGrp="1"/>
          </p:cNvSpPr>
          <p:nvPr>
            <p:ph type="title"/>
          </p:nvPr>
        </p:nvSpPr>
        <p:spPr/>
        <p:txBody>
          <a:bodyPr/>
          <a:lstStyle/>
          <a:p>
            <a:r>
              <a:rPr lang="en-US" dirty="0"/>
              <a:t>3. Data Collection and Tools Used</a:t>
            </a:r>
            <a:endParaRPr lang="en-AU" dirty="0"/>
          </a:p>
        </p:txBody>
      </p:sp>
      <p:sp>
        <p:nvSpPr>
          <p:cNvPr id="7" name="Rectangle 1">
            <a:extLst>
              <a:ext uri="{FF2B5EF4-FFF2-40B4-BE49-F238E27FC236}">
                <a16:creationId xmlns:a16="http://schemas.microsoft.com/office/drawing/2014/main" id="{FD1E43AC-629D-6CF8-8F52-890E653CF4BF}"/>
              </a:ext>
            </a:extLst>
          </p:cNvPr>
          <p:cNvSpPr>
            <a:spLocks noGrp="1" noChangeArrowheads="1"/>
          </p:cNvSpPr>
          <p:nvPr>
            <p:ph idx="1"/>
          </p:nvPr>
        </p:nvSpPr>
        <p:spPr bwMode="auto">
          <a:xfrm>
            <a:off x="1295401" y="2654303"/>
            <a:ext cx="8981659"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RINEX file sources: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Downloaded from GNSS stations near the epicenter (e.g., 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 includes satellite observations in standardized format.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AUSPOS processing workflow:</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Submit RINEX files to AUSPOS (Geoscience Australia)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Receive precise ITRF coordinates in X, Y, Z and ENU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Compare before and after data to measure displacement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7023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7333-47DD-F006-CF48-D45DEE25E4F3}"/>
              </a:ext>
            </a:extLst>
          </p:cNvPr>
          <p:cNvSpPr>
            <a:spLocks noGrp="1"/>
          </p:cNvSpPr>
          <p:nvPr>
            <p:ph type="title"/>
          </p:nvPr>
        </p:nvSpPr>
        <p:spPr/>
        <p:txBody>
          <a:bodyPr/>
          <a:lstStyle/>
          <a:p>
            <a:r>
              <a:rPr lang="en-AU" dirty="0"/>
              <a:t>Coordinate Systems Explanation</a:t>
            </a:r>
          </a:p>
        </p:txBody>
      </p:sp>
      <p:sp>
        <p:nvSpPr>
          <p:cNvPr id="4" name="Rectangle 1">
            <a:extLst>
              <a:ext uri="{FF2B5EF4-FFF2-40B4-BE49-F238E27FC236}">
                <a16:creationId xmlns:a16="http://schemas.microsoft.com/office/drawing/2014/main" id="{EA666468-A681-4831-FFC5-534BE0C89475}"/>
              </a:ext>
            </a:extLst>
          </p:cNvPr>
          <p:cNvSpPr>
            <a:spLocks noGrp="1" noChangeArrowheads="1"/>
          </p:cNvSpPr>
          <p:nvPr>
            <p:ph idx="1"/>
          </p:nvPr>
        </p:nvSpPr>
        <p:spPr bwMode="auto">
          <a:xfrm>
            <a:off x="1295401" y="3985567"/>
            <a:ext cx="3374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AU" sz="2000" b="1" dirty="0"/>
              <a:t>Interpreting coordinate shifts</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4BD202E8-080E-A001-B32A-89CF18212DF2}"/>
              </a:ext>
            </a:extLst>
          </p:cNvPr>
          <p:cNvSpPr>
            <a:spLocks noChangeArrowheads="1"/>
          </p:cNvSpPr>
          <p:nvPr/>
        </p:nvSpPr>
        <p:spPr bwMode="auto">
          <a:xfrm>
            <a:off x="924339" y="4559517"/>
            <a:ext cx="633057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Movement in X/Y indicates horizontal displacement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Change in Z or Up component reveals vertical movement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Combine components to compute total displacement vector</a:t>
            </a:r>
          </a:p>
        </p:txBody>
      </p:sp>
      <p:sp>
        <p:nvSpPr>
          <p:cNvPr id="12" name="Rectangle 3">
            <a:extLst>
              <a:ext uri="{FF2B5EF4-FFF2-40B4-BE49-F238E27FC236}">
                <a16:creationId xmlns:a16="http://schemas.microsoft.com/office/drawing/2014/main" id="{D4EBECBA-B466-96C1-D5CA-E5A5E443822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8FBDA015-D25F-A79E-EC33-B2BF14255B23}"/>
              </a:ext>
            </a:extLst>
          </p:cNvPr>
          <p:cNvSpPr txBox="1"/>
          <p:nvPr/>
        </p:nvSpPr>
        <p:spPr>
          <a:xfrm>
            <a:off x="933631" y="2470697"/>
            <a:ext cx="8236224" cy="1200329"/>
          </a:xfrm>
          <a:prstGeom prst="rect">
            <a:avLst/>
          </a:prstGeom>
          <a:noFill/>
        </p:spPr>
        <p:txBody>
          <a:bodyPr wrap="square">
            <a:spAutoFit/>
          </a:bodyPr>
          <a:lstStyle/>
          <a:p>
            <a:pPr>
              <a:buFont typeface="Arial" panose="020B0604020202020204" pitchFamily="34" charset="0"/>
              <a:buChar char="•"/>
            </a:pPr>
            <a:r>
              <a:rPr lang="en-US" sz="2400" dirty="0"/>
              <a:t>Submitting Rinex files to </a:t>
            </a:r>
            <a:r>
              <a:rPr lang="en-US" sz="2400" dirty="0" err="1"/>
              <a:t>Auspos</a:t>
            </a:r>
            <a:r>
              <a:rPr lang="en-US" sz="2400" dirty="0"/>
              <a:t>.</a:t>
            </a:r>
          </a:p>
          <a:p>
            <a:pPr>
              <a:buFont typeface="Arial" panose="020B0604020202020204" pitchFamily="34" charset="0"/>
              <a:buChar char="•"/>
            </a:pPr>
            <a:r>
              <a:rPr lang="en-US" sz="2400" dirty="0"/>
              <a:t>Upload daily GNSS observation file.</a:t>
            </a:r>
          </a:p>
          <a:p>
            <a:pPr>
              <a:buFont typeface="Arial" panose="020B0604020202020204" pitchFamily="34" charset="0"/>
              <a:buChar char="•"/>
            </a:pPr>
            <a:r>
              <a:rPr lang="en-US" sz="2400" dirty="0"/>
              <a:t>Specify station name and antenna details.</a:t>
            </a:r>
          </a:p>
        </p:txBody>
      </p:sp>
    </p:spTree>
    <p:extLst>
      <p:ext uri="{BB962C8B-B14F-4D97-AF65-F5344CB8AC3E}">
        <p14:creationId xmlns:p14="http://schemas.microsoft.com/office/powerpoint/2010/main" val="184617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2783-BF6F-126B-E083-078D96FDDE8B}"/>
              </a:ext>
            </a:extLst>
          </p:cNvPr>
          <p:cNvSpPr>
            <a:spLocks noGrp="1"/>
          </p:cNvSpPr>
          <p:nvPr>
            <p:ph type="title"/>
          </p:nvPr>
        </p:nvSpPr>
        <p:spPr>
          <a:xfrm>
            <a:off x="1484312" y="685801"/>
            <a:ext cx="9190314" cy="775252"/>
          </a:xfrm>
        </p:spPr>
        <p:txBody>
          <a:bodyPr>
            <a:normAutofit fontScale="90000"/>
          </a:bodyPr>
          <a:lstStyle/>
          <a:p>
            <a:r>
              <a:rPr lang="en-AU" dirty="0"/>
              <a:t>Observations of </a:t>
            </a:r>
            <a:r>
              <a:rPr lang="en-AU" dirty="0" err="1"/>
              <a:t>x,y,z</a:t>
            </a:r>
            <a:r>
              <a:rPr lang="en-AU" dirty="0"/>
              <a:t> coordinates from </a:t>
            </a:r>
            <a:r>
              <a:rPr lang="en-AU" dirty="0" err="1"/>
              <a:t>Auspos</a:t>
            </a:r>
            <a:endParaRPr lang="en-AU" dirty="0"/>
          </a:p>
        </p:txBody>
      </p:sp>
      <p:pic>
        <p:nvPicPr>
          <p:cNvPr id="5" name="Content Placeholder 4">
            <a:extLst>
              <a:ext uri="{FF2B5EF4-FFF2-40B4-BE49-F238E27FC236}">
                <a16:creationId xmlns:a16="http://schemas.microsoft.com/office/drawing/2014/main" id="{7E94B34F-D013-8D00-689D-C903B45345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4307" y="1967950"/>
            <a:ext cx="8580319" cy="3242528"/>
          </a:xfrm>
        </p:spPr>
      </p:pic>
    </p:spTree>
    <p:extLst>
      <p:ext uri="{BB962C8B-B14F-4D97-AF65-F5344CB8AC3E}">
        <p14:creationId xmlns:p14="http://schemas.microsoft.com/office/powerpoint/2010/main" val="487596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28A-148A-BFBF-001C-ECFF6FBFECA7}"/>
              </a:ext>
            </a:extLst>
          </p:cNvPr>
          <p:cNvSpPr>
            <a:spLocks noGrp="1"/>
          </p:cNvSpPr>
          <p:nvPr>
            <p:ph type="title"/>
          </p:nvPr>
        </p:nvSpPr>
        <p:spPr/>
        <p:txBody>
          <a:bodyPr/>
          <a:lstStyle/>
          <a:p>
            <a:r>
              <a:rPr lang="en-AU" dirty="0"/>
              <a:t>X,Y,Z Graphs </a:t>
            </a:r>
          </a:p>
        </p:txBody>
      </p:sp>
      <p:pic>
        <p:nvPicPr>
          <p:cNvPr id="5" name="Content Placeholder 4" descr="A graph with orange lines&#10;&#10;AI-generated content may be incorrect.">
            <a:extLst>
              <a:ext uri="{FF2B5EF4-FFF2-40B4-BE49-F238E27FC236}">
                <a16:creationId xmlns:a16="http://schemas.microsoft.com/office/drawing/2014/main" id="{F9CA7314-14DF-BBD1-BCF7-F097A302EE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313" y="3200019"/>
            <a:ext cx="10018712" cy="2058161"/>
          </a:xfrm>
        </p:spPr>
      </p:pic>
    </p:spTree>
    <p:extLst>
      <p:ext uri="{BB962C8B-B14F-4D97-AF65-F5344CB8AC3E}">
        <p14:creationId xmlns:p14="http://schemas.microsoft.com/office/powerpoint/2010/main" val="290465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2DC3-9FE5-5C41-377A-4204E9A4E0DB}"/>
              </a:ext>
            </a:extLst>
          </p:cNvPr>
          <p:cNvSpPr>
            <a:spLocks noGrp="1"/>
          </p:cNvSpPr>
          <p:nvPr>
            <p:ph type="title"/>
          </p:nvPr>
        </p:nvSpPr>
        <p:spPr>
          <a:xfrm>
            <a:off x="2758440" y="685801"/>
            <a:ext cx="8744584" cy="1036319"/>
          </a:xfrm>
        </p:spPr>
        <p:txBody>
          <a:bodyPr/>
          <a:lstStyle/>
          <a:p>
            <a:r>
              <a:rPr lang="en-AU" dirty="0"/>
              <a:t>Conclusion from X, Y, Z Graphs:</a:t>
            </a:r>
          </a:p>
        </p:txBody>
      </p:sp>
      <p:sp>
        <p:nvSpPr>
          <p:cNvPr id="3" name="Content Placeholder 2">
            <a:extLst>
              <a:ext uri="{FF2B5EF4-FFF2-40B4-BE49-F238E27FC236}">
                <a16:creationId xmlns:a16="http://schemas.microsoft.com/office/drawing/2014/main" id="{55C37E63-92E6-B041-0E84-2CB167369B8C}"/>
              </a:ext>
            </a:extLst>
          </p:cNvPr>
          <p:cNvSpPr>
            <a:spLocks noGrp="1"/>
          </p:cNvSpPr>
          <p:nvPr>
            <p:ph idx="1"/>
          </p:nvPr>
        </p:nvSpPr>
        <p:spPr>
          <a:xfrm>
            <a:off x="1484311" y="1722121"/>
            <a:ext cx="10018713" cy="3985260"/>
          </a:xfrm>
        </p:spPr>
        <p:txBody>
          <a:bodyPr/>
          <a:lstStyle/>
          <a:p>
            <a:pPr>
              <a:buNone/>
            </a:pPr>
            <a:r>
              <a:rPr lang="en-US" b="1" dirty="0"/>
              <a:t>Conclusion from X, Y, Z Graphs:</a:t>
            </a:r>
          </a:p>
          <a:p>
            <a:pPr>
              <a:buFont typeface="+mj-lt"/>
              <a:buAutoNum type="arabicPeriod"/>
            </a:pPr>
            <a:r>
              <a:rPr lang="en-US" b="1" dirty="0"/>
              <a:t>Sudden Shift in Coordinates:</a:t>
            </a:r>
            <a:endParaRPr lang="en-US" dirty="0"/>
          </a:p>
          <a:p>
            <a:pPr marL="742950" lvl="1" indent="-285750">
              <a:buFont typeface="+mj-lt"/>
              <a:buAutoNum type="arabicPeriod"/>
            </a:pPr>
            <a:r>
              <a:rPr lang="en-US" dirty="0"/>
              <a:t>The graphs show an abrupt change (or jump) in the X, Y, and/or Z values on or immediately after the earthquake date (Feb 6, 2023).</a:t>
            </a:r>
          </a:p>
          <a:p>
            <a:pPr marL="742950" lvl="1" indent="-285750">
              <a:buFont typeface="+mj-lt"/>
              <a:buAutoNum type="arabicPeriod"/>
            </a:pPr>
            <a:r>
              <a:rPr lang="en-US" dirty="0"/>
              <a:t>This indicates </a:t>
            </a:r>
            <a:r>
              <a:rPr lang="en-US" b="1" dirty="0"/>
              <a:t>sudden ground displacement</a:t>
            </a:r>
            <a:r>
              <a:rPr lang="en-US" dirty="0"/>
              <a:t> due to seismic activity.</a:t>
            </a:r>
          </a:p>
          <a:p>
            <a:pPr marL="742950" lvl="1" indent="-285750">
              <a:buFont typeface="+mj-lt"/>
              <a:buAutoNum type="arabicPeriod"/>
            </a:pPr>
            <a:endParaRPr lang="en-US" dirty="0"/>
          </a:p>
          <a:p>
            <a:pPr marL="0" indent="0">
              <a:buNone/>
            </a:pPr>
            <a:endParaRPr lang="en-AU" dirty="0"/>
          </a:p>
        </p:txBody>
      </p:sp>
      <p:sp>
        <p:nvSpPr>
          <p:cNvPr id="4" name="Rectangle 1">
            <a:extLst>
              <a:ext uri="{FF2B5EF4-FFF2-40B4-BE49-F238E27FC236}">
                <a16:creationId xmlns:a16="http://schemas.microsoft.com/office/drawing/2014/main" id="{14CE2BA6-76E0-9C6B-D336-9B7841F89F09}"/>
              </a:ext>
            </a:extLst>
          </p:cNvPr>
          <p:cNvSpPr>
            <a:spLocks noChangeArrowheads="1"/>
          </p:cNvSpPr>
          <p:nvPr/>
        </p:nvSpPr>
        <p:spPr bwMode="auto">
          <a:xfrm>
            <a:off x="1684020" y="472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GNSS station did not return to its original position after the quake.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confirms </a:t>
            </a:r>
            <a:r>
              <a:rPr kumimoji="0" lang="en-US" altLang="en-US" sz="1800" b="1" i="0" u="none" strike="noStrike" cap="none" normalizeH="0" baseline="0">
                <a:ln>
                  <a:noFill/>
                </a:ln>
                <a:solidFill>
                  <a:schemeClr val="tx1"/>
                </a:solidFill>
                <a:effectLst/>
                <a:latin typeface="Arial" panose="020B0604020202020204" pitchFamily="34" charset="0"/>
              </a:rPr>
              <a:t>permanent crustal deformation</a:t>
            </a:r>
            <a:r>
              <a:rPr kumimoji="0" lang="en-US" altLang="en-US" sz="1800" b="0" i="0" u="none" strike="noStrike" cap="none" normalizeH="0" baseline="0">
                <a:ln>
                  <a:noFill/>
                </a:ln>
                <a:solidFill>
                  <a:schemeClr val="tx1"/>
                </a:solidFill>
                <a:effectLst/>
                <a:latin typeface="Arial" panose="020B0604020202020204" pitchFamily="34" charset="0"/>
              </a:rPr>
              <a:t>, not just temporary shaking.</a:t>
            </a:r>
          </a:p>
        </p:txBody>
      </p:sp>
    </p:spTree>
    <p:extLst>
      <p:ext uri="{BB962C8B-B14F-4D97-AF65-F5344CB8AC3E}">
        <p14:creationId xmlns:p14="http://schemas.microsoft.com/office/powerpoint/2010/main" val="4048554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8064B-B048-B82B-F3C3-03073C09350D}"/>
              </a:ext>
            </a:extLst>
          </p:cNvPr>
          <p:cNvSpPr>
            <a:spLocks noGrp="1"/>
          </p:cNvSpPr>
          <p:nvPr>
            <p:ph type="title"/>
          </p:nvPr>
        </p:nvSpPr>
        <p:spPr/>
        <p:txBody>
          <a:bodyPr/>
          <a:lstStyle/>
          <a:p>
            <a:r>
              <a:rPr lang="en-AU" dirty="0"/>
              <a:t>Observations of </a:t>
            </a:r>
            <a:r>
              <a:rPr lang="en-AU" dirty="0" err="1"/>
              <a:t>east,north,ellipsoidal</a:t>
            </a:r>
            <a:r>
              <a:rPr lang="en-AU" dirty="0"/>
              <a:t> height.</a:t>
            </a:r>
          </a:p>
        </p:txBody>
      </p:sp>
      <p:pic>
        <p:nvPicPr>
          <p:cNvPr id="5" name="Content Placeholder 4" descr="A screenshot of a computer&#10;&#10;AI-generated content may be incorrect.">
            <a:extLst>
              <a:ext uri="{FF2B5EF4-FFF2-40B4-BE49-F238E27FC236}">
                <a16:creationId xmlns:a16="http://schemas.microsoft.com/office/drawing/2014/main" id="{2947201E-C084-9FED-E947-C898633652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3220" y="2659381"/>
            <a:ext cx="7490460" cy="2650958"/>
          </a:xfrm>
        </p:spPr>
      </p:pic>
    </p:spTree>
    <p:extLst>
      <p:ext uri="{BB962C8B-B14F-4D97-AF65-F5344CB8AC3E}">
        <p14:creationId xmlns:p14="http://schemas.microsoft.com/office/powerpoint/2010/main" val="892912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90F8-9909-9CB6-7F06-C1F57CC7C2B2}"/>
              </a:ext>
            </a:extLst>
          </p:cNvPr>
          <p:cNvSpPr>
            <a:spLocks noGrp="1"/>
          </p:cNvSpPr>
          <p:nvPr>
            <p:ph type="title"/>
          </p:nvPr>
        </p:nvSpPr>
        <p:spPr/>
        <p:txBody>
          <a:bodyPr/>
          <a:lstStyle/>
          <a:p>
            <a:r>
              <a:rPr lang="en-AU" dirty="0"/>
              <a:t>Graphs of </a:t>
            </a:r>
            <a:r>
              <a:rPr lang="en-AU" dirty="0" err="1"/>
              <a:t>East,North,Ellipsoidal</a:t>
            </a:r>
            <a:r>
              <a:rPr lang="en-AU" dirty="0"/>
              <a:t> height</a:t>
            </a:r>
          </a:p>
        </p:txBody>
      </p:sp>
      <p:pic>
        <p:nvPicPr>
          <p:cNvPr id="9" name="Content Placeholder 8" descr="A graph with orange lines&#10;&#10;AI-generated content may be incorrect.">
            <a:extLst>
              <a:ext uri="{FF2B5EF4-FFF2-40B4-BE49-F238E27FC236}">
                <a16:creationId xmlns:a16="http://schemas.microsoft.com/office/drawing/2014/main" id="{01DEEA98-DBED-E11F-248E-D581B993DD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313" y="3226547"/>
            <a:ext cx="10018712" cy="2005106"/>
          </a:xfrm>
        </p:spPr>
      </p:pic>
    </p:spTree>
    <p:extLst>
      <p:ext uri="{BB962C8B-B14F-4D97-AF65-F5344CB8AC3E}">
        <p14:creationId xmlns:p14="http://schemas.microsoft.com/office/powerpoint/2010/main" val="148080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D2CE-81BD-F8AC-8CA5-4407E06D561A}"/>
              </a:ext>
            </a:extLst>
          </p:cNvPr>
          <p:cNvSpPr>
            <a:spLocks noGrp="1"/>
          </p:cNvSpPr>
          <p:nvPr>
            <p:ph type="title"/>
          </p:nvPr>
        </p:nvSpPr>
        <p:spPr/>
        <p:txBody>
          <a:bodyPr/>
          <a:lstStyle/>
          <a:p>
            <a:r>
              <a:rPr lang="en-AU" dirty="0"/>
              <a:t>Conclusion</a:t>
            </a:r>
          </a:p>
        </p:txBody>
      </p:sp>
      <p:sp>
        <p:nvSpPr>
          <p:cNvPr id="3" name="Content Placeholder 2">
            <a:extLst>
              <a:ext uri="{FF2B5EF4-FFF2-40B4-BE49-F238E27FC236}">
                <a16:creationId xmlns:a16="http://schemas.microsoft.com/office/drawing/2014/main" id="{F8088175-F235-BDD1-D5DA-02121C0B1C0F}"/>
              </a:ext>
            </a:extLst>
          </p:cNvPr>
          <p:cNvSpPr>
            <a:spLocks noGrp="1"/>
          </p:cNvSpPr>
          <p:nvPr>
            <p:ph idx="1"/>
          </p:nvPr>
        </p:nvSpPr>
        <p:spPr/>
        <p:txBody>
          <a:bodyPr>
            <a:normAutofit fontScale="92500"/>
          </a:bodyPr>
          <a:lstStyle/>
          <a:p>
            <a:pPr>
              <a:buNone/>
            </a:pPr>
            <a:r>
              <a:rPr lang="en-US" b="1" dirty="0"/>
              <a:t>Key findings:</a:t>
            </a:r>
            <a:endParaRPr lang="en-US" dirty="0"/>
          </a:p>
          <a:p>
            <a:pPr>
              <a:buFont typeface="Arial" panose="020B0604020202020204" pitchFamily="34" charset="0"/>
              <a:buChar char="•"/>
            </a:pPr>
            <a:r>
              <a:rPr lang="en-US" dirty="0"/>
              <a:t>GNSS is effective in detecting earthquake-induced displacement</a:t>
            </a:r>
          </a:p>
          <a:p>
            <a:pPr>
              <a:buFont typeface="Arial" panose="020B0604020202020204" pitchFamily="34" charset="0"/>
              <a:buChar char="•"/>
            </a:pPr>
            <a:r>
              <a:rPr lang="en-US" dirty="0"/>
              <a:t>AUSPOS analysis confirms measurable movement at MERS station</a:t>
            </a:r>
          </a:p>
          <a:p>
            <a:r>
              <a:rPr lang="en-AU" dirty="0" err="1"/>
              <a:t>So,Gnss</a:t>
            </a:r>
            <a:r>
              <a:rPr lang="en-AU" dirty="0"/>
              <a:t> can not accurately predict earthquake before because occurs sudden change in displacement due to stress accumulation causes earthquake.</a:t>
            </a:r>
          </a:p>
          <a:p>
            <a:r>
              <a:rPr lang="en-AU" dirty="0" err="1"/>
              <a:t>Gnss</a:t>
            </a:r>
            <a:r>
              <a:rPr lang="en-AU" dirty="0"/>
              <a:t> more helpful for real time analysis after the earthquake for rescue operations.</a:t>
            </a:r>
          </a:p>
        </p:txBody>
      </p:sp>
    </p:spTree>
    <p:extLst>
      <p:ext uri="{BB962C8B-B14F-4D97-AF65-F5344CB8AC3E}">
        <p14:creationId xmlns:p14="http://schemas.microsoft.com/office/powerpoint/2010/main" val="247814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339</TotalTime>
  <Words>734</Words>
  <Application>Microsoft Office PowerPoint</Application>
  <PresentationFormat>Widescreen</PresentationFormat>
  <Paragraphs>71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Parallax</vt:lpstr>
      <vt:lpstr>Exploratory project</vt:lpstr>
      <vt:lpstr>“GNSS Applications in Earthquake Monitoring”</vt:lpstr>
      <vt:lpstr>  1)Importance of GNSS in geophysical Studies </vt:lpstr>
      <vt:lpstr>How GNSS Helps in Earthquake Detection?</vt:lpstr>
      <vt:lpstr>How GNSS Helps in Earthquake Detection?</vt:lpstr>
      <vt:lpstr>Case study: Turkey Earthquake 2023           </vt:lpstr>
      <vt:lpstr>GNSS and Earthquake Monitoring</vt:lpstr>
      <vt:lpstr>How GNSS tracks crustal movement: </vt:lpstr>
      <vt:lpstr>3. Data Collection and Tools Used</vt:lpstr>
      <vt:lpstr>Coordinate Systems Explanation</vt:lpstr>
      <vt:lpstr>Observations of x,y,z coordinates from Auspos</vt:lpstr>
      <vt:lpstr>X,Y,Z Graphs </vt:lpstr>
      <vt:lpstr>Conclusion from X, Y, Z Graphs:</vt:lpstr>
      <vt:lpstr>Observations of east,north,ellipsoidal height.</vt:lpstr>
      <vt:lpstr>Graphs of East,North,Ellipsoidal height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njathin.swaroop.civ23@itbhu.ac.in</dc:creator>
  <cp:lastModifiedBy>njathin.swaroop.civ23@itbhu.ac.in</cp:lastModifiedBy>
  <cp:revision>4</cp:revision>
  <dcterms:created xsi:type="dcterms:W3CDTF">2025-05-05T21:07:00Z</dcterms:created>
  <dcterms:modified xsi:type="dcterms:W3CDTF">2025-05-06T02:49:23Z</dcterms:modified>
</cp:coreProperties>
</file>